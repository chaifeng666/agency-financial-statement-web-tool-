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B455"/>
    <a:srgbClr val="FFDE24"/>
    <a:srgbClr val="007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今天的案例是決算書的「總說明」。總說明每年都要重寫，數字散在十幾張書表裡，抄錯一個就要重印。我們示範怎麼用 AI：先把上年度總說明每個數字對回書表位置，再用新年度系統產製檔照規則產生總說明，最後做成每年都能用的單機工具。素材是公開的決算書表，含個資的明細頁已遮蔽。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先看教材包有哪 5 項，第 5 項★是卡關時的救生圈。流程分 8 步，今天的重點是 STEP 3（產生總說明）與 STEP 4（做成工具）。最下方是今天會做出來的成果。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三個目標：會找、會產生、會做工具。右邊是工具步驟 5 的畫面，按一下就下載兩份 Word。強調：數字一律從系統產製檔取，書表沒有的文字不讓 AI 編，用黃底紅字留給人補。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這是我實際下過的 4 則指令。第一則只有一句話，AI 也做得出來，但我們整理成 Prompt 集時把條件補齊，結果更穩定。重點是先建立「數字對書表位置」的對照，後面才能自動化。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先給 AI 身分與 7 條規範。第 5、6 條是總說明特有的：每個數字都要能追到來源；書表沒有的文字不能編。第 7 條是做工具時的資安要求。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上傳 113 年度決算書 PDF。AI 先用目次算出頁碼差（PDF 頁＝目次頁碼＋4），再把總說明一、二段的數字逐一對到書表。注意固定資產是淨額，比率是算出來的，書表上找不到要寫算式。右邊是用工具步驟 1 做同一件事的畫面。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把規則講清楚，新年度才能照做。左邊是 Prompt，右邊是 AI 整理出的取數對照。句型會隨數字變：例如繳庫數等於實現數才寫「均已全部解繳國庫」。人工補充的 4 類，工具會留成可編修欄位。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上傳 114 年度 15 個系統產製檔。重點：保留原因從歲出保留分析表摘要、轉入年度改 115；書表沒有的文字用黃底紅字標出，不讓 AI 編。右邊是產出的 Word。卡關就用 04_成果檔 的 3 個檔案。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STEP 1～3 變成每年都能用的工具。4-1 先要流程圖，不讓 AI 直接寫程式；4-2 指定元件版本、要求用真檔案測過才交；4-3 一次修一件。實測時抓到 3 個問題，都是真檔案才測得出來。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這是每年實際作業的方式。選整個系統產製資料夾，工具依檔名辨識表號，同表號取最新。步驟 3 每個數字都有來源儲存格，檢核不符先回系統。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左邊是步驟 3：26 項檢核全部相符，下面每個數字都有儲存格位址。右邊是步驟 4：保留原因已自動從保留分析表摘要，可以展開看原文；黃底紅字是還要補的。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工具產生的是草稿。請 AI 逐段檢查，但只列問題、不要直接改寫全文，避免 AI 改掉正確的數字。驗收清單 7 項逐一打勾。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最後一則指令把整個流程留存。AI 依教材規範做 5 項教材，並推到 GitHub 開 Pull Request，合併後同仁就能下載。沒有 GitHub 權限時，下載 ZIP 用網頁上傳也可以。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練習 15 分鐘。題 4 是刻意埋的疑義：繳付公庫數少 1,000 元，工具會亮「不符」，總說明句子也跟著變。提醒學員：不符要回系統查，不是改 Word。卡關就用 05 資料夾的半成品接續。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回去可以馬上做的三件事。工具不綁特定年度，明年把 115 年度系統檔匯入就能用；不同機關要改步驟 4 的科目內容說明與「本總處」等用語。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19B2F-056B-A978-451B-2382F3593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2245AD-4AA1-3B59-D2C5-7143ABB97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2A740-7192-1ACB-3050-40C668A0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BFF514-4FFF-C5A1-FA16-15F0062D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7075E7-6CE8-4FCC-F0B9-7F4E15E6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572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20F48-52B9-D832-7530-272B4CAA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297718-F810-0500-A264-2AB058CF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1D2FEC-37ED-B337-3AA0-646DD70C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85C315-8105-CCFF-2643-C2CE084B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EDF60A-DB0B-7B86-2C4D-B04FDA03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59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DEA219-2FE3-49A4-44F1-267F9250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1B9947-9923-93DD-B04E-C664E892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5B0863-83BC-5592-94B6-696CC325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A29353-EB8B-AA0D-3ACD-DE2B658D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50F338-6A96-CBEA-42CE-F4BBEE5A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974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64733-6CDA-104D-1B1A-E47F32D5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ACBC80-A4C0-108B-EB2B-BF9F3FCA6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0A1CB5-F607-1306-6874-025B5A5CB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C2912B-701D-B255-B6BA-E12E9663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33CEA5-E7E6-E0BD-72C5-B78753BC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CB1BBB-5906-D5DC-33F1-17445AFB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0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88C0E4-41C9-0E38-9412-7CAAA0B2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1C35C1-5DEB-C6E5-895D-5F914D9B3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F0BC1-A13A-A442-C635-5F253A44F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4975E9-F8A3-E200-323E-5DE09CCBC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09B5F4C-552F-6E02-C392-3867AC277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6307C07-6414-B44F-D0B0-0913E65E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2FA9CA-9D2E-12AC-C981-C6D4A446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338CED-DDE3-6D54-998A-3607201B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752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FE9A2F3D-7C28-CF21-5259-042BEAB72342}"/>
              </a:ext>
            </a:extLst>
          </p:cNvPr>
          <p:cNvGrpSpPr/>
          <p:nvPr userDrawn="1"/>
        </p:nvGrpSpPr>
        <p:grpSpPr>
          <a:xfrm>
            <a:off x="0" y="6638544"/>
            <a:ext cx="12192000" cy="220097"/>
            <a:chOff x="0" y="6638544"/>
            <a:chExt cx="12192000" cy="22009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C71FF97-5CD8-999F-B7D2-AC1A612F52A9}"/>
                </a:ext>
              </a:extLst>
            </p:cNvPr>
            <p:cNvSpPr/>
            <p:nvPr/>
          </p:nvSpPr>
          <p:spPr>
            <a:xfrm>
              <a:off x="0" y="6638544"/>
              <a:ext cx="12192000" cy="219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平行四邊形 3">
              <a:extLst>
                <a:ext uri="{FF2B5EF4-FFF2-40B4-BE49-F238E27FC236}">
                  <a16:creationId xmlns:a16="http://schemas.microsoft.com/office/drawing/2014/main" id="{A20B05D3-4256-EE9D-581E-1B8A241C986A}"/>
                </a:ext>
              </a:extLst>
            </p:cNvPr>
            <p:cNvSpPr/>
            <p:nvPr/>
          </p:nvSpPr>
          <p:spPr>
            <a:xfrm>
              <a:off x="910661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007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平行四邊形 4">
              <a:extLst>
                <a:ext uri="{FF2B5EF4-FFF2-40B4-BE49-F238E27FC236}">
                  <a16:creationId xmlns:a16="http://schemas.microsoft.com/office/drawing/2014/main" id="{43128ACA-B4BA-F88F-7CAF-8DFC4130FC8B}"/>
                </a:ext>
              </a:extLst>
            </p:cNvPr>
            <p:cNvSpPr/>
            <p:nvPr/>
          </p:nvSpPr>
          <p:spPr>
            <a:xfrm>
              <a:off x="1546380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FFDE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平行四邊形 5">
              <a:extLst>
                <a:ext uri="{FF2B5EF4-FFF2-40B4-BE49-F238E27FC236}">
                  <a16:creationId xmlns:a16="http://schemas.microsoft.com/office/drawing/2014/main" id="{4E0DE298-3385-1EB1-9488-F7E8302390E4}"/>
                </a:ext>
              </a:extLst>
            </p:cNvPr>
            <p:cNvSpPr/>
            <p:nvPr/>
          </p:nvSpPr>
          <p:spPr>
            <a:xfrm>
              <a:off x="2182099" y="6639185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2DB4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01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>
            <a:extLst>
              <a:ext uri="{FF2B5EF4-FFF2-40B4-BE49-F238E27FC236}">
                <a16:creationId xmlns:a16="http://schemas.microsoft.com/office/drawing/2014/main" id="{23D1976B-EAA2-3F8B-FF49-B5A35E060FAE}"/>
              </a:ext>
            </a:extLst>
          </p:cNvPr>
          <p:cNvGrpSpPr/>
          <p:nvPr userDrawn="1"/>
        </p:nvGrpSpPr>
        <p:grpSpPr>
          <a:xfrm>
            <a:off x="0" y="6638544"/>
            <a:ext cx="12192000" cy="220097"/>
            <a:chOff x="0" y="6638544"/>
            <a:chExt cx="12192000" cy="22009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6BC673-A027-4C6F-96B7-EAB445F7CCB7}"/>
                </a:ext>
              </a:extLst>
            </p:cNvPr>
            <p:cNvSpPr/>
            <p:nvPr/>
          </p:nvSpPr>
          <p:spPr>
            <a:xfrm>
              <a:off x="0" y="6638544"/>
              <a:ext cx="12192000" cy="219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7ACC3578-3264-85EB-40D0-12929AD7B2C1}"/>
                </a:ext>
              </a:extLst>
            </p:cNvPr>
            <p:cNvSpPr/>
            <p:nvPr/>
          </p:nvSpPr>
          <p:spPr>
            <a:xfrm>
              <a:off x="910661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007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526A2CD7-C3B8-08E1-33F2-0B67CBDEE586}"/>
                </a:ext>
              </a:extLst>
            </p:cNvPr>
            <p:cNvSpPr/>
            <p:nvPr/>
          </p:nvSpPr>
          <p:spPr>
            <a:xfrm>
              <a:off x="1546380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FFDE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平行四邊形 15">
              <a:extLst>
                <a:ext uri="{FF2B5EF4-FFF2-40B4-BE49-F238E27FC236}">
                  <a16:creationId xmlns:a16="http://schemas.microsoft.com/office/drawing/2014/main" id="{87DAD3EE-B77B-1CF9-4EF0-23F946E63E4B}"/>
                </a:ext>
              </a:extLst>
            </p:cNvPr>
            <p:cNvSpPr/>
            <p:nvPr/>
          </p:nvSpPr>
          <p:spPr>
            <a:xfrm>
              <a:off x="2182099" y="6639185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2DB4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" name="標題 1">
            <a:extLst>
              <a:ext uri="{FF2B5EF4-FFF2-40B4-BE49-F238E27FC236}">
                <a16:creationId xmlns:a16="http://schemas.microsoft.com/office/drawing/2014/main" id="{1F6BD97B-624A-0E83-489F-0A0864E2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248679"/>
            <a:ext cx="10515600" cy="642581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037D7D9-9FC4-A869-D10D-0F22239CE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4" y="992187"/>
            <a:ext cx="11394233" cy="55205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6614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9D0E0718-6EFA-390D-7A06-081239C0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248679"/>
            <a:ext cx="10515600" cy="642581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83F5726F-D6C7-BD8E-4370-16443AB80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4" y="992187"/>
            <a:ext cx="11394233" cy="55205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6075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5DB55E-77A2-67EA-06E1-E1DF78CF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9E9FB9-F790-2949-302C-4015FE308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E4FE95-B7BE-8ECB-1FED-E60087677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47B9A2-BB52-B455-68D0-AD06C323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BB24C4-290D-E521-3D47-1605F916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C32724-3A7B-AF39-9C5C-8FE013F5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098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85E44-C87E-6474-E8C6-5C1AF55D8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8106C3D-6CCF-DFA9-28A3-ED27829E8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41A5FB-9195-F950-44D8-FBF5B7465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C8816A-58E2-5230-2ED5-42F40D30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414FB3-9EFB-A799-0485-5A2C0EDD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AF79AE-6F04-0E1F-5A2D-B098BBEC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5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EDA21F-8902-0B5C-EA20-3DEBAFEAC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B4826A-EEB5-9CF0-5FA6-99E2180B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C426F6-5698-C8DF-D453-DBE70B42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130F01-C1A7-3DBF-ED56-67BE4F63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95088E-E435-1C94-0312-7B669A94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6586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8F58C-39C1-D904-2C65-8B35A6BDC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860657-92DD-5F24-34FB-4EE8FC68A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6A0336-6862-35C0-685D-A6198648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5668EA-76F2-8C13-E996-B4B5496E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FD9319-80A2-D4D8-FB68-D389D20B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8111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FEF3667-4903-8956-DA86-E4FEA6B3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F47A42-8EC1-7AA8-5748-0052209E9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7FD6F-2296-1BBD-C9F3-D85A0E383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EC959E-8D91-E6E6-38E2-E9344C608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3754AD-EC86-DF9A-0CF3-2630A3345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57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B1EA9368-FFE5-9ED3-6357-5FD6E8573236}"/>
              </a:ext>
            </a:extLst>
          </p:cNvPr>
          <p:cNvGrpSpPr/>
          <p:nvPr/>
        </p:nvGrpSpPr>
        <p:grpSpPr>
          <a:xfrm>
            <a:off x="0" y="6638544"/>
            <a:ext cx="12192000" cy="220097"/>
            <a:chOff x="0" y="6638544"/>
            <a:chExt cx="12192000" cy="22009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F6C8182-0741-A26C-29A0-3D50E6B63A4A}"/>
                </a:ext>
              </a:extLst>
            </p:cNvPr>
            <p:cNvSpPr/>
            <p:nvPr/>
          </p:nvSpPr>
          <p:spPr>
            <a:xfrm>
              <a:off x="0" y="6638544"/>
              <a:ext cx="12192000" cy="219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平行四邊形 3">
              <a:extLst>
                <a:ext uri="{FF2B5EF4-FFF2-40B4-BE49-F238E27FC236}">
                  <a16:creationId xmlns:a16="http://schemas.microsoft.com/office/drawing/2014/main" id="{D8F731B3-DECE-AAEC-CBE5-36A44F9404C4}"/>
                </a:ext>
              </a:extLst>
            </p:cNvPr>
            <p:cNvSpPr/>
            <p:nvPr/>
          </p:nvSpPr>
          <p:spPr>
            <a:xfrm>
              <a:off x="910661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007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平行四邊形 6">
              <a:extLst>
                <a:ext uri="{FF2B5EF4-FFF2-40B4-BE49-F238E27FC236}">
                  <a16:creationId xmlns:a16="http://schemas.microsoft.com/office/drawing/2014/main" id="{B1B6EAC0-961E-E9FA-0BD3-CE347742B329}"/>
                </a:ext>
              </a:extLst>
            </p:cNvPr>
            <p:cNvSpPr/>
            <p:nvPr/>
          </p:nvSpPr>
          <p:spPr>
            <a:xfrm>
              <a:off x="1546380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FFDE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平行四邊形 7">
              <a:extLst>
                <a:ext uri="{FF2B5EF4-FFF2-40B4-BE49-F238E27FC236}">
                  <a16:creationId xmlns:a16="http://schemas.microsoft.com/office/drawing/2014/main" id="{7D352425-F259-7563-1754-19E1804A7ED9}"/>
                </a:ext>
              </a:extLst>
            </p:cNvPr>
            <p:cNvSpPr/>
            <p:nvPr/>
          </p:nvSpPr>
          <p:spPr>
            <a:xfrm>
              <a:off x="2182099" y="6639185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2DB4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BD897961-7C83-C5FC-4DE0-03CD4619D1C5}"/>
              </a:ext>
            </a:extLst>
          </p:cNvPr>
          <p:cNvSpPr txBox="1"/>
          <p:nvPr/>
        </p:nvSpPr>
        <p:spPr>
          <a:xfrm>
            <a:off x="910661" y="1920240"/>
            <a:ext cx="102080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dirty="0" b="1">
                <a:solidFill>
                  <a:srgbClr val="C00000"/>
                </a:solidFill>
                <a:latin typeface="微軟正黑體"/>
                <a:ea typeface="微軟正黑體"/>
              </a:rPr>
              <a:t>決算總說明產生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742" y="1325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595F66"/>
                </a:solidFill>
                <a:latin typeface="微軟正黑體"/>
                <a:ea typeface="微軟正黑體"/>
              </a:rPr>
              <a:t>主計 AI 應用與實作課程｜案例教材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742" y="2971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  <a:ea typeface="微軟正黑體"/>
              </a:rPr>
              <a:t>上年度定稿 × 系統產製書表 → 新年度總說明與數字來源說明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42" y="388620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微軟正黑體"/>
                <a:ea typeface="微軟正黑體"/>
              </a:rPr>
              <a:t>講師：家鳳</a:t>
            </a:r>
          </a:p>
        </p:txBody>
      </p:sp>
    </p:spTree>
    <p:extLst>
      <p:ext uri="{BB962C8B-B14F-4D97-AF65-F5344CB8AC3E}">
        <p14:creationId xmlns:p14="http://schemas.microsoft.com/office/powerpoint/2010/main" val="225130346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課程地圖：5 項教材 × STEP 0～7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教材包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03120" cy="68580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435608"/>
            <a:ext cx="384048" cy="384048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44168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簡報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80160"/>
            <a:ext cx="2103120" cy="68580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80360" y="1435608"/>
            <a:ext cx="384048" cy="384048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344168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2103120" cy="68580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66360" y="1435608"/>
            <a:ext cx="384048" cy="384048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344168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素材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280160"/>
            <a:ext cx="2103120" cy="68580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2360" y="1435608"/>
            <a:ext cx="384048" cy="384048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344168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成果檔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280160"/>
            <a:ext cx="2103120" cy="6858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38360" y="1435608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1344168"/>
            <a:ext cx="1463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微軟正黑體"/>
              </a:rPr>
              <a:t>★ 半成品與題目檔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4028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流程 STEP 0～7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606040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43200"/>
            <a:ext cx="1298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STEP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154680"/>
            <a:ext cx="12070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22222"/>
                </a:solidFill>
                <a:latin typeface="微軟正黑體"/>
              </a:rPr>
              <a:t>角色與規範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2606040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2743200"/>
            <a:ext cx="1298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39" y="3154680"/>
            <a:ext cx="12070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22222"/>
                </a:solidFill>
                <a:latin typeface="微軟正黑體"/>
              </a:rPr>
              <a:t>總說明＋書表位置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2606040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2743200"/>
            <a:ext cx="1298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154680"/>
            <a:ext cx="12070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22222"/>
                </a:solidFill>
                <a:latin typeface="微軟正黑體"/>
              </a:rPr>
              <a:t>句型與取數規則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2606040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2743200"/>
            <a:ext cx="1298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154680"/>
            <a:ext cx="12070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222222"/>
                </a:solidFill>
                <a:latin typeface="微軟正黑體"/>
              </a:rPr>
              <a:t>★產生 114 年度總說明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4069080"/>
            <a:ext cx="932688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4069080"/>
            <a:ext cx="93268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</a:rPr>
              <a:t>今天的重點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2606040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743200"/>
            <a:ext cx="1298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STEP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154680"/>
            <a:ext cx="12070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222222"/>
                </a:solidFill>
                <a:latin typeface="微軟正黑體"/>
              </a:rPr>
              <a:t>★做成工具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069080"/>
            <a:ext cx="932688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069080"/>
            <a:ext cx="93268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</a:rPr>
              <a:t>今天的重點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2606040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2743200"/>
            <a:ext cx="1298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STEP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154680"/>
            <a:ext cx="12070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22222"/>
                </a:solidFill>
                <a:latin typeface="微軟正黑體"/>
              </a:rPr>
              <a:t>工具操作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2606040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2743200"/>
            <a:ext cx="1298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STEP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3154680"/>
            <a:ext cx="12070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22222"/>
                </a:solidFill>
                <a:latin typeface="微軟正黑體"/>
              </a:rPr>
              <a:t>定稿複核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78440" y="2606040"/>
            <a:ext cx="1298448" cy="192024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78440" y="2743200"/>
            <a:ext cx="12984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STEP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3154680"/>
            <a:ext cx="12070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22222"/>
                </a:solidFill>
                <a:latin typeface="微軟正黑體"/>
              </a:rPr>
              <a:t>教材包與GitHub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8920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微軟正黑體"/>
              </a:rPr>
              <a:t>成果：</a:t>
            </a:r>
            <a:r>
              <a:rPr sz="1400" b="0">
                <a:solidFill>
                  <a:srgbClr val="222222"/>
                </a:solidFill>
                <a:latin typeface="微軟正黑體"/>
              </a:rPr>
              <a:t>113 年度總說明 105 個數字全部對回書表；114 年度總說明 Word＋數字來源說明 Word；單一 HTML 總說明產生工具（離線、無中國大陸元件），表間檢核 26 項全部相符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學習目標與成果預覽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18872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C00000"/>
                </a:solidFill>
                <a:latin typeface="微軟正黑體"/>
              </a:rPr>
              <a:t>會找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把總說明每個數字對回書表的表名、頁次、列與欄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514600"/>
            <a:ext cx="411480" cy="41148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C00000"/>
                </a:solidFill>
                <a:latin typeface="微軟正黑體"/>
              </a:rPr>
              <a:t>會產生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97480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用新年度系統產製檔，照規則產生總說明與數字來源說明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7472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C00000"/>
                </a:solidFill>
                <a:latin typeface="微軟正黑體"/>
              </a:rPr>
              <a:t>會做工具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40480"/>
            <a:ext cx="4206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用 Prompt 做出單一 HTML 工具，每年匯入就能用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1188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81728"/>
            <a:ext cx="1188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00000"/>
                </a:solidFill>
                <a:latin typeface="微軟正黑體"/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800"/>
            <a:ext cx="1188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113 總說明數字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全部相符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55648" y="4617720"/>
            <a:ext cx="1188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4681728"/>
            <a:ext cx="1188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DB455"/>
                </a:solidFill>
                <a:latin typeface="微軟正黑體"/>
              </a:rPr>
              <a:t>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5257800"/>
            <a:ext cx="1188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表間檢核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全部相符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54096" y="4617720"/>
            <a:ext cx="1188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54096" y="4681728"/>
            <a:ext cx="1188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0076BC"/>
                </a:solidFill>
                <a:latin typeface="微軟正黑體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4096" y="5257800"/>
            <a:ext cx="1188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份 Word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總說明＋來源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4617720"/>
            <a:ext cx="1188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4681728"/>
            <a:ext cx="1188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00000"/>
                </a:solidFill>
                <a:latin typeface="微軟正黑體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2544" y="5257800"/>
            <a:ext cx="1188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個 HTML 工具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離線執行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9601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成果預覽　工具步驟 5：產生 Word</a:t>
            </a:r>
          </a:p>
        </p:txBody>
      </p:sp>
      <p:pic>
        <p:nvPicPr>
          <p:cNvPr id="28" name="Picture 27" descr="ui08_產生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5788152" cy="3617595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5943600" y="5074920"/>
            <a:ext cx="5788152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95F66"/>
                </a:solidFill>
                <a:latin typeface="微軟正黑體"/>
              </a:rPr>
              <a:t>補完動支用途、確認變動原因後，只剩「施政成果」1 處待撰寫；Word 中以黃底紅字標示。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案例怎麼來的：4 則指令的歷程與啟示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7589520" cy="86868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第 1 則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找位置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124712"/>
            <a:ext cx="6217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「取出總說明，生成總說明的數據，參考書表的表名及位置」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00200"/>
            <a:ext cx="6217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DB455"/>
                </a:solidFill>
                <a:latin typeface="微軟正黑體"/>
              </a:rPr>
              <a:t>→ 105 個數字對照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39112"/>
            <a:ext cx="75895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12264"/>
            <a:ext cx="10972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第 2 則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產生新年度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12264"/>
            <a:ext cx="6217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「參考上傳檔案內容，產生 114 年度總說明，另含數字來源的說明，2 份 word；最後用一個 html 下載」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87752"/>
            <a:ext cx="6217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DB455"/>
                </a:solidFill>
                <a:latin typeface="微軟正黑體"/>
              </a:rPr>
              <a:t>→ 2 份 Word＋下載頁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26664"/>
            <a:ext cx="7589520" cy="86868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99816"/>
            <a:ext cx="10972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第 3 則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做成工具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99816"/>
            <a:ext cx="6217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「彙成本次流程…可以匯入某年度的系統產製表件…做成互動式網頁，使用落地版本，不使用大陸元件」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75304"/>
            <a:ext cx="6217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DB455"/>
                </a:solidFill>
                <a:latin typeface="微軟正黑體"/>
              </a:rPr>
              <a:t>→ 總說明產生工具.html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14216"/>
            <a:ext cx="75895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87368"/>
            <a:ext cx="10972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第 4 則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</a:rPr>
              <a:t>教材包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087368"/>
            <a:ext cx="6217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「彙整所有提示詞，做成教材包，並上載到 github 上」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62856"/>
            <a:ext cx="6217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DB455"/>
                </a:solidFill>
                <a:latin typeface="微軟正黑體"/>
              </a:rPr>
              <a:t>→ 本教材包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051560"/>
            <a:ext cx="3410712" cy="3831336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18872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C00000"/>
                </a:solidFill>
                <a:latin typeface="微軟正黑體"/>
              </a:rPr>
              <a:t>啟示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645920"/>
            <a:ext cx="310896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1. 先建立「數字→書表位置」對照，再談自動化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2. 一句話能開始，但條件要補齊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3. 書表沒有的文字不讓 AI 編，用黃底紅字留給人補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4. 「落地、無大陸元件」要寫成：單一 HTML、元件內嵌、附 SBOM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5. 用真檔案測試，一次修一件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完整原始指令與整理後的提示語鏈：02_Prompt／決算總說明產生_提示語歷程.md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0｜角色設定與工作規範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DE24"/>
                </a:solidFill>
                <a:latin typeface="微軟正黑體"/>
              </a:rPr>
              <a:t>Prompt　</a:t>
            </a:r>
            <a:r>
              <a:rPr sz="1100" b="0">
                <a:solidFill>
                  <a:srgbClr val="C9CED6"/>
                </a:solidFill>
                <a:latin typeface="微軟正黑體"/>
              </a:rPr>
              <a:t>上傳：無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029200" cy="3374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你是熟悉中央政府決算書表與總說明寫法的主計資訊助理，我是〔機關〕的主計人員。請遵守：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1. 不可猜測，資料不足請我補充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2. 無法辨識要標註並列出位置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3. 千分位、比率 2 位、印刷頁／PDF 頁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4. 主動標註疑義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5. 每個數字寫出書表、頁次、列與欄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6. 書表沒有的文字不編，黃底紅字待補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7. 單一 HTML、離線、無中國大陸元件、附 SBOM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預期畫面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44168"/>
            <a:ext cx="5513832" cy="44805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5080" y="1385316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44168"/>
            <a:ext cx="4782312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不可猜測，資料不足請我補充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65376"/>
            <a:ext cx="5513832" cy="448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1906524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65376"/>
            <a:ext cx="4782312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無法辨識要標註並列出位置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86584"/>
            <a:ext cx="5513832" cy="44805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2427732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86584"/>
            <a:ext cx="4782312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格式統一：千分位、比率 2 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07791"/>
            <a:ext cx="5513832" cy="448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2948939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07791"/>
            <a:ext cx="4782312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主動標註表間疑義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513832" cy="44805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3470148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429000"/>
            <a:ext cx="4782312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數字可追溯：書表、頁次、列欄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50207"/>
            <a:ext cx="5513832" cy="448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55080" y="3991355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50207"/>
            <a:ext cx="4782312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書表沒有的文字不編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71416"/>
            <a:ext cx="5513832" cy="44805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55080" y="4512564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471416"/>
            <a:ext cx="4782312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單一 HTML、離線、無中國大陸元件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08776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DB455"/>
                </a:solidFill>
                <a:latin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AI 複述 7 項規範，等待上傳檔案。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AI 若直接開始做，回覆「請先等我上傳檔案，並每步確認」。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1｜取出總說明，找出每個數字的書表位置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DE24"/>
                </a:solidFill>
                <a:latin typeface="微軟正黑體"/>
              </a:rPr>
              <a:t>Prompt　</a:t>
            </a:r>
            <a:r>
              <a:rPr sz="1100" b="0">
                <a:solidFill>
                  <a:srgbClr val="C9CED6"/>
                </a:solidFill>
                <a:latin typeface="微軟正黑體"/>
              </a:rPr>
              <a:t>上傳：113年度決算書_定稿.pdf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029200" cy="3374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附件是〔113〕年度單位決算書定稿 PDF。請：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(1) 依目次找出總說明頁次，算出印刷頁碼與 PDF 頁的差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(2) 取出一、二段全部數字（金額與比率）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(3) 每個數字列出：段落、項目、數值、來源書表、目次頁碼、PDF 頁、列 × 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(4) 書表上沒有直接出現的寫出計算式並驗算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(5) 平衡表與上年度比較，標出變動達 20% 的科目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產生 Excel：數據對照、書表數據、變動分析、文字生成、頁次索引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預期畫面（工具步驟 1）</a:t>
            </a:r>
          </a:p>
        </p:txBody>
      </p:sp>
      <p:pic>
        <p:nvPicPr>
          <p:cNvPr id="7" name="Picture 6" descr="ui02_總說明參考書表位置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513832" cy="3446145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57200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08776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DB455"/>
                </a:solidFill>
                <a:latin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總說明在 PDF 第 5～25 頁；105 個數字全部相符；土地改良物 729,120－60,151＝668,969；變動達 20%：機械及設備、購建中固定資產、應付代收款。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對照 04_成果檔／02_STEP1／113年度總說明數據對照.xlsx；或用工具步驟 1 直接上傳 PDF。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2｜歸納總說明的句型與取數規則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475488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4297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DE24"/>
                </a:solidFill>
                <a:latin typeface="微軟正黑體"/>
              </a:rPr>
              <a:t>Prompt　</a:t>
            </a:r>
            <a:r>
              <a:rPr sz="1100" b="0">
                <a:solidFill>
                  <a:srgbClr val="C9CED6"/>
                </a:solidFill>
                <a:latin typeface="微軟正黑體"/>
              </a:rPr>
              <a:t>上傳：無（接續 STEP 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4297680" cy="3374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依 STEP 1 的對照結果，整理取數與句型規則：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(1) 段落→來源書表→列、欄→計算方式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(2) 句型會變的情況（全部解繳、無賸餘數、100%、動支第一預備金、無註銷數、未達 20%／無變動）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(3) 需要人工補的文字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先列給我確認，不要產生檔案。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2412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預期結果：取數對照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344168"/>
            <a:ext cx="6245352" cy="530352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344168"/>
            <a:ext cx="1280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</a:rPr>
              <a:t>歲入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344168"/>
            <a:ext cx="47548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歲入來源別決算表（目級實現數）＋繳付公庫數分析表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947672"/>
            <a:ext cx="624535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947672"/>
            <a:ext cx="1280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</a:rPr>
              <a:t>歲出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47672"/>
            <a:ext cx="47548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歲出機關別決算表（不含統籌、各工作計畫）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551176"/>
            <a:ext cx="6245352" cy="530352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2551176"/>
            <a:ext cx="1280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</a:rPr>
              <a:t>統籌科目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51176"/>
            <a:ext cx="47548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公庫撥入數分析表（庫撥數）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154680"/>
            <a:ext cx="624535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3154680"/>
            <a:ext cx="1280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</a:rPr>
              <a:t>以前年度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154680"/>
            <a:ext cx="47548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以前年度歲出轉入數決算表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58184"/>
            <a:ext cx="6245352" cy="530352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758184"/>
            <a:ext cx="1280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</a:rPr>
              <a:t>平衡表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758184"/>
            <a:ext cx="47548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平衡表（本年度／上年度）＋變動表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361688"/>
            <a:ext cx="6245352" cy="530352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4361688"/>
            <a:ext cx="1280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微軟正黑體"/>
              </a:rPr>
              <a:t>人工補充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361688"/>
            <a:ext cx="475488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軟正黑體"/>
              </a:rPr>
              <a:t>保留原因摘要、動支用途、科目內容、施政成果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08776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DB455"/>
                </a:solidFill>
                <a:latin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取數規則 5 類＋人工補充 4 類；AI 先列表等確認，不產生檔案。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直接看 113年度總說明數據對照.xlsx 的「計算方式」欄與「總說明文字生成」工作表。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3｜★ 產生 114 年度總說明（2 份 Word）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DE24"/>
                </a:solidFill>
                <a:latin typeface="微軟正黑體"/>
              </a:rPr>
              <a:t>Prompt　</a:t>
            </a:r>
            <a:r>
              <a:rPr sz="1100" b="0">
                <a:solidFill>
                  <a:srgbClr val="C9CED6"/>
                </a:solidFill>
                <a:latin typeface="微軟正黑體"/>
              </a:rPr>
              <a:t>上傳：114 年度系統產製檔（15 個 .xls）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029200" cy="3374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附件是〔114〕年度系統產製書表。請依 STEP 2 的規則：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(1) 產生〔114〕年度總說明 Word（A4 直式、標楷體 12 點）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(2) 另產生「數字來源說明」Word：來源檔名、儲存格、列 × 欄、計算方式、平衡表變動分析、待補事項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(3) 保留原因從歲出保留分析表摘要，轉入〔115〕年度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(4) 書表沒有的文字用黃底紅字標出，不要自己編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(5) 做一個 HTML，內嵌 2 份 Word，按鈕下載並可預覽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預期畫面（114年度總說明.docx 第 1 頁）</a:t>
            </a:r>
          </a:p>
        </p:txBody>
      </p:sp>
      <p:pic>
        <p:nvPicPr>
          <p:cNvPr id="7" name="Picture 6" descr="docp-1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3429000" cy="3004260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829800" y="1371600"/>
            <a:ext cx="1920240" cy="37490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歲入實現 2,092,072 元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（150.73%）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歲出合共 1,388,025,084 元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（96.33%）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保留數 7,626,122 元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變動須說明 3 項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機械 +35.19%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交通 +406.68%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微軟正黑體"/>
              </a:rPr>
              <a:t>購建中 −68.04%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DB455"/>
                </a:solidFill>
                <a:latin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數字來源 99 個；以前年度保留 53,083,729 元全數實現、無註銷數；黃底待補 5 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改用 04_成果檔／03_STEP2-3 的 3 個檔案；或直接用工具（STEP 5）。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4｜★ 做成工具：3 段提示詞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4-1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3444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22222"/>
                </a:solidFill>
                <a:latin typeface="微軟正黑體"/>
              </a:rPr>
              <a:t>說明需求，先要流程圖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291840" cy="2514600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01752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・5 個步驟：PDF 找位置→匯入系統檔→檢核→補文字→產生 Word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・限制：單一 HTML、雙擊即用、元件內嵌、無中國大陸元件、附 SBOM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・先給流程圖、按鈕欄位、元件與國別，等我確認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DB455"/>
                </a:solidFill>
                <a:latin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</a:rPr>
              <a:t>AI 回流程圖與元件清單：SheetJS 0.20.3、PDF.js 3.11.174（美國）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0515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62272" y="118872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4-2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23444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微軟正黑體"/>
              </a:rPr>
              <a:t>★ 生成工具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874519"/>
            <a:ext cx="3291840" cy="2514600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965960"/>
            <a:ext cx="301752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・元件全部內嵌，含 PDF 中文字型對照表（CMap）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・用科目編號找列，不寫死列號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・表間檢核；用附件實測後再交檔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452628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DB455"/>
                </a:solidFill>
                <a:latin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</a:rPr>
              <a:t>約 2.7 MB 的 .html；PDF 數字 101 個、找到 96 個；檢核 26 項全部相符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05156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84463" y="1188720"/>
            <a:ext cx="548640" cy="54864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4-3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123444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22222"/>
                </a:solidFill>
                <a:latin typeface="微軟正黑體"/>
              </a:rPr>
              <a:t>測試與修正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3" y="1874519"/>
            <a:ext cx="3291840" cy="2514600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965960"/>
            <a:ext cx="301752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・「哪一步、做了什麼、看到什麼、應該是什麼」＋截圖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</a:rPr>
              <a:t>・每次只修一件，修完說明改了哪裡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452628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DB455"/>
                </a:solidFill>
                <a:latin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</a:rPr>
              <a:t>實例：平衡表左右欄分開讀；預備金動支只列最下層；切換步驟要隱藏其他區塊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95F66"/>
                </a:solidFill>
                <a:latin typeface="微軟正黑體"/>
              </a:rPr>
              <a:t>完整 Prompt 見 02_Prompt／決算總說明產生_Prompt集（依演示順序）.txt 的 STEP 4-1～4-3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5｜在工具內操作（不需 AI）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4846320" cy="69494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207007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88136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22222"/>
                </a:solidFill>
                <a:latin typeface="微軟正黑體"/>
              </a:rPr>
              <a:t>上年度決算書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99031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上傳 113 PDF → 參考書表位置，可匯出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37943"/>
            <a:ext cx="484632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993391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22222"/>
                </a:solidFill>
                <a:latin typeface="微軟正黑體"/>
              </a:rPr>
              <a:t>匯入系統產製表件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5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選整個資料夾；年度、機關全銜自動帶入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24328"/>
            <a:ext cx="4846320" cy="69494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2779776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60904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22222"/>
                </a:solidFill>
                <a:latin typeface="微軟正黑體"/>
              </a:rPr>
              <a:t>數據與檢核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每個數字的來源儲存格；表間檢核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10712"/>
            <a:ext cx="484632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566160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47288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22222"/>
                </a:solidFill>
                <a:latin typeface="微軟正黑體"/>
              </a:rPr>
              <a:t>文字編修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58184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補動支用途、確認變動原因、施政成果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97096"/>
            <a:ext cx="4846320" cy="69494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4352544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33672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22222"/>
                </a:solidFill>
                <a:latin typeface="微軟正黑體"/>
              </a:rPr>
              <a:t>產生 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44568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總說明、數字來源說明、數字來源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9601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步驟 2：匯入系統產製表件</a:t>
            </a:r>
          </a:p>
        </p:txBody>
      </p:sp>
      <p:pic>
        <p:nvPicPr>
          <p:cNvPr id="24" name="Picture 23" descr="ui03_匯入系統產製表件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61872"/>
            <a:ext cx="6153912" cy="3846195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25" name="Rounded Rectangle 24"/>
          <p:cNvSpPr/>
          <p:nvPr/>
        </p:nvSpPr>
        <p:spPr>
          <a:xfrm>
            <a:off x="457200" y="5120640"/>
            <a:ext cx="5522976" cy="114300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08776" y="5120640"/>
            <a:ext cx="5522976" cy="1143000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30368"/>
            <a:ext cx="5065776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DB455"/>
                </a:solidFill>
                <a:latin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PDF 數字 101 個、找到 96 個；檢核 26 項相符；引用數字 110 個；待補 6 處→補完剩 1 處。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5230368"/>
            <a:ext cx="5065776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PDF 讀不到字：確認不是掃描檔；表件「缺少」：確認檔名沒被改；或看 04_成果檔／04_STEP5-6。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5｜數據與檢核、文字編修畫面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步驟 3：數據與檢核</a:t>
            </a:r>
          </a:p>
        </p:txBody>
      </p:sp>
      <p:pic>
        <p:nvPicPr>
          <p:cNvPr id="4" name="Picture 3" descr="ui04_數據與檢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5532120" cy="3457575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199632" y="9601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步驟 4：文字編修（右側即時預覽）</a:t>
            </a:r>
          </a:p>
        </p:txBody>
      </p:sp>
      <p:pic>
        <p:nvPicPr>
          <p:cNvPr id="6" name="Picture 5" descr="ui06_文字編修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261872"/>
            <a:ext cx="5532120" cy="3457575"/>
          </a:xfrm>
          <a:prstGeom prst="rect">
            <a:avLst/>
          </a:prstGeom>
          <a:ln w="12700">
            <a:solidFill>
              <a:srgbClr val="DDDDDD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457200" y="4892040"/>
            <a:ext cx="5522976" cy="137160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08776" y="4892040"/>
            <a:ext cx="5522976" cy="1371600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01768"/>
            <a:ext cx="506577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DB455"/>
                </a:solidFill>
                <a:latin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保留原因 5 項自動摘要；變動原因由變動表增加數、減少數、折舊數組成，保持原樣會標「請確認」。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5001768"/>
            <a:ext cx="506577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欄位不見：先回步驟 2 按「擷取數據」；預覽沒更新：在欄位內再輸入一個字。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6｜Word 定稿與人工複核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DE24"/>
                </a:solidFill>
                <a:latin typeface="微軟正黑體"/>
              </a:rPr>
              <a:t>Prompt　</a:t>
            </a:r>
            <a:r>
              <a:rPr sz="1100" b="0">
                <a:solidFill>
                  <a:srgbClr val="C9CED6"/>
                </a:solidFill>
                <a:latin typeface="微軟正黑體"/>
              </a:rPr>
              <a:t>上傳：總說明草稿＋數字來源說明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029200" cy="2331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附件是〔114〕年度總說明草稿與數字來源說明。請逐段檢查：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(1) 數字與數字來源說明一致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(2) 比率、賸餘數驗算正確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(3) 黃底紅字是否都已補完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(4) 用語與上年度一致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只列出問題與建議修改，不要直接改寫全文。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驗收清單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44168"/>
            <a:ext cx="5513832" cy="37490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44168"/>
            <a:ext cx="5303520" cy="3749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微軟正黑體"/>
              </a:rPr>
              <a:t>☐　每個數字都找得到來源儲存格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73936"/>
            <a:ext cx="5513832" cy="374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73936"/>
            <a:ext cx="5303520" cy="3749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微軟正黑體"/>
              </a:rPr>
              <a:t>☐　表間檢核全部相符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03704"/>
            <a:ext cx="5513832" cy="37490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03704"/>
            <a:ext cx="5303520" cy="3749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微軟正黑體"/>
              </a:rPr>
              <a:t>☐　比率＝(實現＋保留)÷預算×100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33472"/>
            <a:ext cx="5513832" cy="374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33472"/>
            <a:ext cx="5303520" cy="3749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微軟正黑體"/>
              </a:rPr>
              <a:t>☐　變動達 20% 都有原因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39"/>
            <a:ext cx="5513832" cy="37490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39"/>
            <a:ext cx="5303520" cy="3749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微軟正黑體"/>
              </a:rPr>
              <a:t>☐　保留轉入年度是下一年度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93007"/>
            <a:ext cx="5513832" cy="374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493007"/>
            <a:ext cx="5303520" cy="3749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微軟正黑體"/>
              </a:rPr>
              <a:t>☐　黃底紅字全部補完並刪除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22776"/>
            <a:ext cx="5513832" cy="37490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22776"/>
            <a:ext cx="5303520" cy="3749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微軟正黑體"/>
              </a:rPr>
              <a:t>☐　工具離線、元件無中國大陸元件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5522976" cy="128016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08776" y="4434840"/>
            <a:ext cx="5522976" cy="1280160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44568"/>
            <a:ext cx="5065776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DB455"/>
                </a:solidFill>
                <a:latin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數字全部一致；剩 1 處黃底（施政成果）；「（示範文字）」要換成真正用途。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544568"/>
            <a:ext cx="5065776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自己用數字來源說明的「表間檢核」表逐項打勾；不符一律回系統查明，不要只改 Word。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STEP 7｜（選用）彙整提示詞做成教材包並上傳 GitHub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5029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DE24"/>
                </a:solidFill>
                <a:latin typeface="微軟正黑體"/>
              </a:rPr>
              <a:t>Prompt　</a:t>
            </a:r>
            <a:r>
              <a:rPr sz="1100" b="0">
                <a:solidFill>
                  <a:srgbClr val="C9CED6"/>
                </a:solidFill>
                <a:latin typeface="微軟正黑體"/>
              </a:rPr>
              <a:t>上傳：本次對話的成果檔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029200" cy="33741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彙整這次對話用過的所有提示詞，依「簡報、Prompt、素材、成果檔、★半成品或題目檔」5 項做成教材包（資訊處模板白底紅標，STEP by STEP），並上傳到我的 GitHub〔儲存庫名稱〕。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軟正黑體"/>
              </a:rPr>
              <a:t>含個資的素材請先遮蔽。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95F66"/>
                </a:solidFill>
                <a:latin typeface="微軟正黑體"/>
              </a:rPr>
              <a:t>教材包結構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513832" cy="375818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21208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決算總說明產生教材包／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├ 00_教材清單（請先讀我）.txt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├ 01_簡報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├ 02_Prompt（Prompt 集、提示語歷程、UI 畫面）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├ 03_素材（113 定稿 PDF、114 系統檔 15 個）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├ 04_成果檔（工具、STEP 1／3／5 產出）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22222"/>
                </a:solidFill>
                <a:latin typeface="微軟正黑體"/>
              </a:rPr>
              <a:t>└ 05_★半成品與題目檔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5221224"/>
            <a:ext cx="5522976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DB455"/>
                </a:solidFill>
                <a:latin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教材包資料夾＋ZIP＋檔案明細；GitHub 新增分支與 Pull Request，合併後出現在儲存庫。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5330952"/>
            <a:ext cx="5065776" cy="8869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AI 沒有 GitHub 權限：下載 ZIP，在 GitHub 網頁「Add file → Upload files」上傳。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★ 學員練習與注意事項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11274552" cy="2331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</a:rPr>
              <a:t>★ 05_半成品與題目檔　</a:t>
            </a:r>
            <a:r>
              <a:rPr sz="1300" b="0">
                <a:solidFill>
                  <a:srgbClr val="222222"/>
                </a:solidFill>
                <a:latin typeface="微軟正黑體"/>
              </a:rPr>
              <a:t>★題目檔_總說明練習.xlsx　★半成品_114年度總說明（只差補6處文字）.docx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170992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19072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找位置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7830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5 個數字對回書表與頁次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60020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71800" y="170992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1719072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比率驗算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240280"/>
            <a:ext cx="17830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3 個工作計畫比率、賸餘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60020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170992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704" y="1719072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變動判斷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240280"/>
            <a:ext cx="17830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5 個科目是否達 20%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14616" y="160020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24344" y="170992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5" y="1719072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找疑義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2240280"/>
            <a:ext cx="17830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練習用系統檔含 1 處不符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0888" y="1600200"/>
            <a:ext cx="202996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0615" y="170992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1719072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22222"/>
                </a:solidFill>
                <a:latin typeface="微軟正黑體"/>
              </a:rPr>
              <a:t>接續半成品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240280"/>
            <a:ext cx="17830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95F66"/>
                </a:solidFill>
                <a:latin typeface="微軟正黑體"/>
              </a:rPr>
              <a:t>補完 6 處黃底紅字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611880"/>
            <a:ext cx="2697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3730752"/>
            <a:ext cx="411480" cy="41148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30752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22222"/>
                </a:solidFill>
                <a:latin typeface="微軟正黑體"/>
              </a:rPr>
              <a:t>資安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297680"/>
            <a:ext cx="242316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95F66"/>
                </a:solidFill>
                <a:latin typeface="微軟正黑體"/>
              </a:rPr>
              <a:t>工具單一 HTML、離線；元件無中國大陸元件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80"/>
            <a:ext cx="2697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29000" y="3730752"/>
            <a:ext cx="411480" cy="41148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730752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22222"/>
                </a:solidFill>
                <a:latin typeface="微軟正黑體"/>
              </a:rPr>
              <a:t>個資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297680"/>
            <a:ext cx="242316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95F66"/>
                </a:solidFill>
                <a:latin typeface="微軟正黑體"/>
              </a:rPr>
              <a:t>素材含個資明細頁已遮蔽；正式資料不上傳網路 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611880"/>
            <a:ext cx="2697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63640" y="3730752"/>
            <a:ext cx="411480" cy="411480"/>
          </a:xfrm>
          <a:prstGeom prst="ellipse">
            <a:avLst/>
          </a:prstGeom>
          <a:solidFill>
            <a:srgbClr val="D4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730752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22222"/>
                </a:solidFill>
                <a:latin typeface="微軟正黑體"/>
              </a:rPr>
              <a:t>人工複核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297680"/>
            <a:ext cx="242316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95F66"/>
                </a:solidFill>
                <a:latin typeface="微軟正黑體"/>
              </a:rPr>
              <a:t>以系統產製檔為準；比率與淨額要驗算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3611880"/>
            <a:ext cx="2697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98280" y="3730752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730752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22222"/>
                </a:solidFill>
                <a:latin typeface="微軟正黑體"/>
              </a:rPr>
              <a:t>不編造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297680"/>
            <a:ext cx="242316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95F66"/>
                </a:solidFill>
                <a:latin typeface="微軟正黑體"/>
              </a:rPr>
              <a:t>動支用途、施政成果依實際情形撰寫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</a:rPr>
              <a:t>結語與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98448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22222"/>
                </a:solidFill>
                <a:latin typeface="微軟正黑體"/>
              </a:rPr>
              <a:t>用自己機關的系統檔試做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95F66"/>
                </a:solidFill>
                <a:latin typeface="微軟正黑體"/>
              </a:rPr>
              <a:t>工具步驟 2 選整個資料夾；缺的表會標示「缺少」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32888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22222"/>
                </a:solidFill>
                <a:latin typeface="微軟正黑體"/>
              </a:rPr>
              <a:t>先建立自己的「數字→書表位置」對照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71800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95F66"/>
                </a:solidFill>
                <a:latin typeface="微軟正黑體"/>
              </a:rPr>
              <a:t>用工具步驟 1 上傳自己機關上年度定稿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67328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22222"/>
                </a:solidFill>
                <a:latin typeface="微軟正黑體"/>
              </a:rPr>
              <a:t>把 Prompt 改成自己的版本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06240"/>
            <a:ext cx="6400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95F66"/>
                </a:solidFill>
                <a:latin typeface="微軟正黑體"/>
              </a:rPr>
              <a:t>換掉〔 〕內的機關、年度與檔案數量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737360"/>
            <a:ext cx="3566160" cy="1828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5400" b="1">
                <a:solidFill>
                  <a:srgbClr val="C00000"/>
                </a:solidFill>
                <a:latin typeface="微軟正黑體"/>
              </a:rPr>
              <a:t>Q &amp;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566160"/>
            <a:ext cx="35661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595F66"/>
                </a:solidFill>
                <a:latin typeface="微軟正黑體"/>
              </a:rPr>
              <a:t>講師：家鳳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5">
      <a:majorFont>
        <a:latin typeface="Calibri Light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9</Words>
  <Application>Microsoft Office PowerPoint</Application>
  <PresentationFormat>寬螢幕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我是標題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許傳龍</dc:creator>
  <cp:lastModifiedBy>許傳龍</cp:lastModifiedBy>
  <cp:revision>16</cp:revision>
  <dcterms:created xsi:type="dcterms:W3CDTF">2023-09-13T10:19:26Z</dcterms:created>
  <dcterms:modified xsi:type="dcterms:W3CDTF">2026-10-15T01:19:20Z</dcterms:modified>
</cp:coreProperties>
</file>