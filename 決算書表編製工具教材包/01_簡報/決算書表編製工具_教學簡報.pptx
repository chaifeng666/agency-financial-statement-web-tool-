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B455"/>
    <a:srgbClr val="FFDE24"/>
    <a:srgbClr val="0076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開場：今天用一個主計日常工作——每年決算書表套版——示範怎麼一步一步與 AI 協作。教材包 5 項，第 5 項★半成品與題目檔是避免大家卡關用的。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上排是教材包 5 項，第 5 項★半成品與題目檔是卡關救援用。下排是整堂課的 10 步；今天的重點是紅色的 STEP 5：從零生成 HTML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本工具從無到有共下了 14 則指令，分 4 個階段。越到後面指令越短、越具體：附截圖、一次一件事。完整原話見 02_Prompt「生成HTML提示語歷程.md」。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0 一定先做。把規範寫成條列，AI 才不會猜、不會一次做完整套。第 6 點是本機關的資安要求。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1～4 每段都先讓 AI 條列結果與我確認。完整提示語見 02_Prompt。這四步確認的規則，就是 STEP 5 寫進工具的內容。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給沒有寫過程式的主計人員：不用自己寫程式，照 5-1 到 5-6 依序貼提示詞，每段都先讓 AI 給說明、確認後才寫。範本 Excel 或 PDF 都可以。5-7 簡易版是選用。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沒有寫過程式也能開始：先把要做什麼、限制、畫面講清楚，請 AI 先給流程圖確認。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不管範本是 Excel 還是 PDF，都先請 AI 把每張表的格式整理成規格，並對好系統檔欄位放到範本哪一欄。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依確認過的流程與格式規格，請 AI 產生第一個可以開啟的 .html，先做到載入、對照、預覽。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讓每張表的格式都能在畫面上調整，並與範本（Excel 或 PDF）並排對照。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格式調好後，一次產出可列印的版面與套用範本格式的 Excel。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用實際檔案測試，把問題講清楚，請 AI 只改這一處並升版次，舊版保留可退回。 完整提示語見 02_Prompt 的 Prompt 集與「各流程必用提示語與UI操作對照」。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6～9 在完成的工具內操作，示範同一份數字一次產出列印版面、Excel、公告檔與格式 1～5。卡關就匯入 05★ 半成品。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發下 05_★半成品與題目檔：題目在 ★題目檔 xlsx「★題目說明」，作答寫在「作答區」，驗算工作表自動計算。卡關就匯入半成品。注意事項：機關正式資料不上傳 AI，在單機工具內處理，結果一定要人工複核。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收尾：回去用自己機關的系統檔試做簡易版；規格檔與編修檔留存，明年直接沿用。開放提問。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19B2F-056B-A978-451B-2382F3593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62245AD-4AA1-3B59-D2C5-7143ABB978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2A740-7192-1ACB-3050-40C668A0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BFF514-4FFF-C5A1-FA16-15F0062D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7075E7-6CE8-4FCC-F0B9-7F4E15E61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0572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20F48-52B9-D832-7530-272B4CAAA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297718-F810-0500-A264-2AB058CF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1D2FEC-37ED-B337-3AA0-646DD70C4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85C315-8105-CCFF-2643-C2CE084BC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EDF60A-DB0B-7B86-2C4D-B04FDA039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159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DEA219-2FE3-49A4-44F1-267F9250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51B9947-9923-93DD-B04E-C664E892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5B0863-83BC-5592-94B6-696CC3256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A29353-EB8B-AA0D-3ACD-DE2B658D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50F338-6A96-CBEA-42CE-F4BBEE5A5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974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864733-6CDA-104D-1B1A-E47F32D57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ACBC80-A4C0-108B-EB2B-BF9F3FCA6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0A1CB5-F607-1306-6874-025B5A5CBE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C2912B-701D-B255-B6BA-E12E966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33CEA5-E7E6-E0BD-72C5-B78753BCC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CB1BBB-5906-D5DC-33F1-17445AFB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70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88C0E4-41C9-0E38-9412-7CAAA0B2B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1C35C1-5DEB-C6E5-895D-5F914D9B3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9F0BC1-A13A-A442-C635-5F253A44F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4975E9-F8A3-E200-323E-5DE09CCBC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09B5F4C-552F-6E02-C392-3867AC2778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6307C07-6414-B44F-D0B0-0913E65E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92FA9CA-9D2E-12AC-C981-C6D4A446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1338CED-DDE3-6D54-998A-3607201BC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752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FE9A2F3D-7C28-CF21-5259-042BEAB72342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7C71FF97-5CD8-999F-B7D2-AC1A612F52A9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平行四邊形 3">
              <a:extLst>
                <a:ext uri="{FF2B5EF4-FFF2-40B4-BE49-F238E27FC236}">
                  <a16:creationId xmlns:a16="http://schemas.microsoft.com/office/drawing/2014/main" id="{A20B05D3-4256-EE9D-581E-1B8A241C986A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平行四邊形 4">
              <a:extLst>
                <a:ext uri="{FF2B5EF4-FFF2-40B4-BE49-F238E27FC236}">
                  <a16:creationId xmlns:a16="http://schemas.microsoft.com/office/drawing/2014/main" id="{43128ACA-B4BA-F88F-7CAF-8DFC4130FC8B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平行四邊形 5">
              <a:extLst>
                <a:ext uri="{FF2B5EF4-FFF2-40B4-BE49-F238E27FC236}">
                  <a16:creationId xmlns:a16="http://schemas.microsoft.com/office/drawing/2014/main" id="{4E0DE298-3385-1EB1-9488-F7E8302390E4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301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群組 11">
            <a:extLst>
              <a:ext uri="{FF2B5EF4-FFF2-40B4-BE49-F238E27FC236}">
                <a16:creationId xmlns:a16="http://schemas.microsoft.com/office/drawing/2014/main" id="{23D1976B-EAA2-3F8B-FF49-B5A35E060FAE}"/>
              </a:ext>
            </a:extLst>
          </p:cNvPr>
          <p:cNvGrpSpPr/>
          <p:nvPr userDrawn="1"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776BC673-A027-4C6F-96B7-EAB445F7CCB7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平行四邊形 13">
              <a:extLst>
                <a:ext uri="{FF2B5EF4-FFF2-40B4-BE49-F238E27FC236}">
                  <a16:creationId xmlns:a16="http://schemas.microsoft.com/office/drawing/2014/main" id="{7ACC3578-3264-85EB-40D0-12929AD7B2C1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平行四邊形 14">
              <a:extLst>
                <a:ext uri="{FF2B5EF4-FFF2-40B4-BE49-F238E27FC236}">
                  <a16:creationId xmlns:a16="http://schemas.microsoft.com/office/drawing/2014/main" id="{526A2CD7-C3B8-08E1-33F2-0B67CBDEE586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6" name="平行四邊形 15">
              <a:extLst>
                <a:ext uri="{FF2B5EF4-FFF2-40B4-BE49-F238E27FC236}">
                  <a16:creationId xmlns:a16="http://schemas.microsoft.com/office/drawing/2014/main" id="{87DAD3EE-B77B-1CF9-4EF0-23F946E63E4B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4" name="標題 1">
            <a:extLst>
              <a:ext uri="{FF2B5EF4-FFF2-40B4-BE49-F238E27FC236}">
                <a16:creationId xmlns:a16="http://schemas.microsoft.com/office/drawing/2014/main" id="{1F6BD97B-624A-0E83-489F-0A0864E2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A037D7D9-9FC4-A869-D10D-0F22239CE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46614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D0E0718-6EFA-390D-7A06-081239C07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975" y="248679"/>
            <a:ext cx="10515600" cy="642581"/>
          </a:xfrm>
        </p:spPr>
        <p:txBody>
          <a:bodyPr/>
          <a:lstStyle>
            <a:lvl1pPr>
              <a:defRPr sz="36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83F5726F-D6C7-BD8E-4370-16443AB80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974" y="992187"/>
            <a:ext cx="11394233" cy="55205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6075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5DB55E-77A2-67EA-06E1-E1DF78CF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9E9FB9-F790-2949-302C-4015FE308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DE4FE95-B7BE-8ECB-1FED-E60087677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A47B9A2-BB52-B455-68D0-AD06C3231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8BB24C4-290D-E521-3D47-1605F9165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C32724-3A7B-AF39-9C5C-8FE013F5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98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F85E44-C87E-6474-E8C6-5C1AF55D8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8106C3D-6CCF-DFA9-28A3-ED27829E87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B41A5FB-9195-F950-44D8-FBF5B7465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C8816A-58E2-5230-2ED5-42F40D304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1414FB3-9EFB-A799-0485-5A2C0EDD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CAF79AE-6F04-0E1F-5A2D-B098BBECF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EDA21F-8902-0B5C-EA20-3DEBAFEAC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B4826A-EEB5-9CF0-5FA6-99E2180B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C426F6-5698-C8DF-D453-DBE70B42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130F01-C1A7-3DBF-ED56-67BE4F639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95088E-E435-1C94-0312-7B669A946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658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7F8F58C-39C1-D904-2C65-8B35A6BDC0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E860657-92DD-5F24-34FB-4EE8FC68A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6A0336-6862-35C0-685D-A6198648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5668EA-76F2-8C13-E996-B4B5496E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FD9319-80A2-D4D8-FB68-D389D20B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8111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FEF3667-4903-8956-DA86-E4FEA6B3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F47A42-8EC1-7AA8-5748-0052209E9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7FD6F-2296-1BBD-C9F3-D85A0E383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F7372-EC8E-4AF6-9C61-41EF6E44CCDD}" type="datetimeFigureOut">
              <a:rPr lang="zh-TW" altLang="en-US" smtClean="0"/>
              <a:t>2026/10/15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EC959E-8D91-E6E6-38E2-E9344C608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3754AD-EC86-DF9A-0CF3-2630A3345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704E3-6112-4A13-9F25-2259944BE34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357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4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B1EA9368-FFE5-9ED3-6357-5FD6E8573236}"/>
              </a:ext>
            </a:extLst>
          </p:cNvPr>
          <p:cNvGrpSpPr/>
          <p:nvPr/>
        </p:nvGrpSpPr>
        <p:grpSpPr>
          <a:xfrm>
            <a:off x="0" y="6638544"/>
            <a:ext cx="12192000" cy="220097"/>
            <a:chOff x="0" y="6638544"/>
            <a:chExt cx="12192000" cy="22009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F6C8182-0741-A26C-29A0-3D50E6B63A4A}"/>
                </a:ext>
              </a:extLst>
            </p:cNvPr>
            <p:cNvSpPr/>
            <p:nvPr/>
          </p:nvSpPr>
          <p:spPr>
            <a:xfrm>
              <a:off x="0" y="6638544"/>
              <a:ext cx="12192000" cy="2194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" name="平行四邊形 3">
              <a:extLst>
                <a:ext uri="{FF2B5EF4-FFF2-40B4-BE49-F238E27FC236}">
                  <a16:creationId xmlns:a16="http://schemas.microsoft.com/office/drawing/2014/main" id="{D8F731B3-DECE-AAEC-CBE5-36A44F9404C4}"/>
                </a:ext>
              </a:extLst>
            </p:cNvPr>
            <p:cNvSpPr/>
            <p:nvPr/>
          </p:nvSpPr>
          <p:spPr>
            <a:xfrm>
              <a:off x="910661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0076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平行四邊形 6">
              <a:extLst>
                <a:ext uri="{FF2B5EF4-FFF2-40B4-BE49-F238E27FC236}">
                  <a16:creationId xmlns:a16="http://schemas.microsoft.com/office/drawing/2014/main" id="{B1B6EAC0-961E-E9FA-0BD3-CE347742B329}"/>
                </a:ext>
              </a:extLst>
            </p:cNvPr>
            <p:cNvSpPr/>
            <p:nvPr/>
          </p:nvSpPr>
          <p:spPr>
            <a:xfrm>
              <a:off x="1546380" y="6638544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FFDE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平行四邊形 7">
              <a:extLst>
                <a:ext uri="{FF2B5EF4-FFF2-40B4-BE49-F238E27FC236}">
                  <a16:creationId xmlns:a16="http://schemas.microsoft.com/office/drawing/2014/main" id="{7D352425-F259-7563-1754-19E1804A7ED9}"/>
                </a:ext>
              </a:extLst>
            </p:cNvPr>
            <p:cNvSpPr/>
            <p:nvPr/>
          </p:nvSpPr>
          <p:spPr>
            <a:xfrm>
              <a:off x="2182099" y="6639185"/>
              <a:ext cx="641684" cy="219456"/>
            </a:xfrm>
            <a:prstGeom prst="parallelogram">
              <a:avLst>
                <a:gd name="adj" fmla="val 81433"/>
              </a:avLst>
            </a:prstGeom>
            <a:solidFill>
              <a:srgbClr val="2DB4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5" name="文字方塊 4">
            <a:extLst>
              <a:ext uri="{FF2B5EF4-FFF2-40B4-BE49-F238E27FC236}">
                <a16:creationId xmlns:a16="http://schemas.microsoft.com/office/drawing/2014/main" id="{BD897961-7C83-C5FC-4DE0-03CD4619D1C5}"/>
              </a:ext>
            </a:extLst>
          </p:cNvPr>
          <p:cNvSpPr txBox="1"/>
          <p:nvPr/>
        </p:nvSpPr>
        <p:spPr>
          <a:xfrm>
            <a:off x="910661" y="1920240"/>
            <a:ext cx="102080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800" dirty="0" b="1">
                <a:solidFill>
                  <a:srgbClr val="C00000"/>
                </a:solidFill>
                <a:latin typeface="微軟正黑體"/>
                <a:ea typeface="微軟正黑體"/>
              </a:rPr>
              <a:t>決算書表編製工具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42" y="13258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595F66"/>
                </a:solidFill>
                <a:latin typeface="微軟正黑體"/>
                <a:ea typeface="微軟正黑體"/>
              </a:rPr>
              <a:t>主計 AI 應用與實作課程｜案例教材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742" y="2971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222222"/>
                </a:solidFill>
                <a:latin typeface="微軟正黑體"/>
                <a:ea typeface="微軟正黑體"/>
              </a:rPr>
              <a:t>系統產製書表 × 以往年度定稿 → 可編修、可列印、可公告的單機網頁工具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0742" y="388620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微軟正黑體"/>
                <a:ea typeface="微軟正黑體"/>
              </a:rPr>
              <a:t>講師：家鳳</a:t>
            </a:r>
          </a:p>
        </p:txBody>
      </p:sp>
    </p:spTree>
    <p:extLst>
      <p:ext uri="{BB962C8B-B14F-4D97-AF65-F5344CB8AC3E}">
        <p14:creationId xmlns:p14="http://schemas.microsoft.com/office/powerpoint/2010/main" val="225130346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課程地圖：5 項教材 × STEP 0～9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24128"/>
            <a:ext cx="1127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95F66"/>
                </a:solidFill>
                <a:latin typeface="微軟正黑體"/>
                <a:ea typeface="微軟正黑體"/>
              </a:rPr>
              <a:t>教材包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89888"/>
            <a:ext cx="2109216" cy="9144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1595628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89888"/>
            <a:ext cx="11948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簡報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9296" y="1389888"/>
            <a:ext cx="2109216" cy="9144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32176" y="1595628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72256" y="1389888"/>
            <a:ext cx="11948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1392" y="1389888"/>
            <a:ext cx="2109216" cy="9144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24272" y="1595628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4352" y="1389888"/>
            <a:ext cx="11948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素材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389888"/>
            <a:ext cx="2109216" cy="91440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16368" y="1595628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389888"/>
            <a:ext cx="11948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成果檔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25584" y="1389888"/>
            <a:ext cx="2109216" cy="91440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08464" y="1595628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軟正黑體"/>
                <a:ea typeface="微軟正黑體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48544" y="1389888"/>
            <a:ext cx="1194816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微軟正黑體"/>
                <a:ea typeface="微軟正黑體"/>
              </a:rPr>
              <a:t>★ 半成品與題目檔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32888"/>
            <a:ext cx="1127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95F66"/>
                </a:solidFill>
                <a:latin typeface="微軟正黑體"/>
                <a:ea typeface="微軟正黑體"/>
              </a:rPr>
              <a:t>流程 STEP 0～9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STEP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角色與規範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7916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7916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STEP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2780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表名對照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632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78632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3496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表間勾稽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89348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89348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STEP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4212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#12／#38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00064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0064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STEP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4928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格式說明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510780" y="2898647"/>
            <a:ext cx="2181148" cy="21031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10780" y="3127247"/>
            <a:ext cx="21811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00000"/>
                </a:solidFill>
                <a:latin typeface="微軟正黑體"/>
                <a:ea typeface="微軟正黑體"/>
              </a:rPr>
              <a:t>STEP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65644" y="3675887"/>
            <a:ext cx="20714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222222"/>
                </a:solidFill>
                <a:latin typeface="微軟正黑體"/>
                <a:ea typeface="微軟正黑體"/>
              </a:rPr>
              <a:t>從零生成</a:t>
            </a:r>
          </a:p>
          <a:p>
            <a:pPr algn="ctr"/>
            <a:r>
              <a:rPr sz="2100" b="1">
                <a:solidFill>
                  <a:srgbClr val="222222"/>
                </a:solidFill>
                <a:latin typeface="微軟正黑體"/>
                <a:ea typeface="微軟正黑體"/>
              </a:rPr>
              <a:t>HTML 工具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39380" y="4498847"/>
            <a:ext cx="1723948" cy="329184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微軟正黑體"/>
                <a:ea typeface="微軟正黑體"/>
              </a:rPr>
              <a:t>今天的重點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01656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01656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STEP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56520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編修重算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12372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12372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STEP 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7236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列印與Excel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3088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3088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STEP 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7952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版面細修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33804" y="2898647"/>
            <a:ext cx="900988" cy="210312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33804" y="3127247"/>
            <a:ext cx="9009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STEP 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88668" y="3675887"/>
            <a:ext cx="7912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222222"/>
                </a:solidFill>
                <a:latin typeface="微軟正黑體"/>
                <a:ea typeface="微軟正黑體"/>
              </a:rPr>
              <a:t>公告與格式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788152"/>
            <a:ext cx="1127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軟正黑體"/>
                <a:ea typeface="微軟正黑體"/>
              </a:rPr>
              <a:t>成果：</a:t>
            </a:r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單一 HTML 工具（完整版／簡易版），離線執行、無中國大陸元件；列印版面 182 頁，18 條勾稽全部相符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工具怎麼來的：14 則指令的歷程與啟示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69848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69848"/>
            <a:ext cx="1143000" cy="1188720"/>
          </a:xfrm>
          <a:prstGeom prst="roundRect">
            <a:avLst>
              <a:gd name="adj" fmla="val 8000"/>
            </a:avLst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69848"/>
            <a:ext cx="1143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1～5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17957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早期需求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45336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「系統產製書表參考以往年度定稿調整格式，每步確認，不用中國大陸元件」→ 公告檔、格式 1～5、範本改 PDF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68296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368296"/>
            <a:ext cx="1143000" cy="1188720"/>
          </a:xfrm>
          <a:prstGeom prst="roundRect">
            <a:avLst>
              <a:gd name="adj" fmla="val 8000"/>
            </a:avLst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68296"/>
            <a:ext cx="1143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6～8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780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整合與發布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8437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「整合 2 個工具及列印版面，彙成 1 個 html」→ SheetJS 0.20.3、上傳 GitHub（不含機關資料）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66744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666744"/>
            <a:ext cx="1143000" cy="1188720"/>
          </a:xfrm>
          <a:prstGeom prst="roundRect">
            <a:avLst>
              <a:gd name="adj" fmla="val 8000"/>
            </a:avLst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66744"/>
            <a:ext cx="1143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9～11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77647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格式編修與簡易版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142232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「可以編修每張書表的格式」「只有上傳的書表…另存簡易版」「簡易版少了範本檔」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65192"/>
            <a:ext cx="658368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965192"/>
            <a:ext cx="1143000" cy="11887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965192"/>
            <a:ext cx="11430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12～14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074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一句話＋截圖細修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40680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「補的列要補格線，框線上下左右對齊」「少了關閉與單雙面」「增加可編修起始頁號」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069848"/>
            <a:ext cx="4419600" cy="5221224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254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0" y="1298448"/>
            <a:ext cx="387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微軟正黑體"/>
                <a:ea typeface="微軟正黑體"/>
              </a:rPr>
              <a:t>啟示：真正有效的 3 件事</a:t>
            </a:r>
          </a:p>
        </p:txBody>
      </p:sp>
      <p:sp>
        <p:nvSpPr>
          <p:cNvPr id="25" name="Oval 24"/>
          <p:cNvSpPr/>
          <p:nvPr/>
        </p:nvSpPr>
        <p:spPr>
          <a:xfrm>
            <a:off x="7589520" y="189280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1874520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先講規範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276856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每次新對話先貼 STEP 0</a:t>
            </a:r>
          </a:p>
        </p:txBody>
      </p:sp>
      <p:sp>
        <p:nvSpPr>
          <p:cNvPr id="28" name="Oval 27"/>
          <p:cNvSpPr/>
          <p:nvPr/>
        </p:nvSpPr>
        <p:spPr>
          <a:xfrm>
            <a:off x="7589520" y="312724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08960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先要流程圖與格式規格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511296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確認後才寫程式</a:t>
            </a:r>
          </a:p>
        </p:txBody>
      </p:sp>
      <p:sp>
        <p:nvSpPr>
          <p:cNvPr id="31" name="Oval 30"/>
          <p:cNvSpPr/>
          <p:nvPr/>
        </p:nvSpPr>
        <p:spPr>
          <a:xfrm>
            <a:off x="7589520" y="4361688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43400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每次只改一件事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745736"/>
            <a:ext cx="323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一句話＋截圖，版次加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5605272"/>
            <a:ext cx="387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0000"/>
                </a:solidFill>
                <a:latin typeface="微軟正黑體"/>
                <a:ea typeface="微軟正黑體"/>
              </a:rPr>
              <a:t>→ 整理成 STEP 5 的 7 段提示詞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0｜角色設定與工作規範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你是熟悉中央政府決算書表格式與會計作業的資訊助理，我是〔機關〕的主計人員。請遵守：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1. 不可猜測，資料不足請我補充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2. 無法辨識要標註「無法辨識」並列出位置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3. 格式統一：千分位、比率 2 位、#表號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4. 主動標註表間疑義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5. 每步先條列結果，等我確認；多種做法用選項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6. 單一 HTML、離線、不用中國大陸元件，附 SBOM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微軟正黑體"/>
                <a:ea typeface="微軟正黑體"/>
              </a:rPr>
              <a:t>7. 系統產製數字為準，人工修改留紀錄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44168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355080" y="1385316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44168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不可猜測，資料不足請我補充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65376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80" y="1906524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865376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無法辨識要標註並列出位置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386584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5080" y="2427732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386584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格式統一：千分位、比率 2 位、#表號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907792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2948940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07792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主動標註表間疑義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3470148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429000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每步確認；多種做法給選項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50208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55080" y="3991356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50208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單一 HTML、離線、無中國大陸元件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471416"/>
            <a:ext cx="5516880" cy="44805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55080" y="4512564"/>
            <a:ext cx="365760" cy="36576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微軟正黑體"/>
                <a:ea typeface="微軟正黑體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471416"/>
            <a:ext cx="4785360" cy="448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系統值為準，修改留紀錄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複述 7 項規範，等待上傳檔案。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若直接開始做，回覆「請先等我上傳檔案，並每步確認」。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1～4｜請 AI 分析與訂規則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179576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179576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分析表名與對照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分析的檔案：系統產製檔 23 個＋113 定稿 PDF＋112 定稿 xlsx。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依檔名「年度_表號_表名_時間戳」列表號、表名，同表號取最新；對照範本頁次；標示有系統檔／手填／推算／未上傳。先確認再繼續。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03220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23 個全辨識；PDF 215 頁辨識 27 張表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024128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6040" y="1179576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1179576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內容核對（表間勾稽）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6040" y="1755648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920" y="1865376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設計勾稽規則，分歲入／歲出／財務面，每條寫成「#表 欄位 ＝ #表 欄位」。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用系統檔實際試算，列出相符／不符與差額；#18 千元表容許 ±5 千元。先確認規則條數。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2903220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18 條全部相符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71900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27348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#12 判斷與 #38 推算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03420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13148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#12：依 #4 減免數判斷，為 0 輸出「本年度無」。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#38：決算數取 #1、#6，會計收支取 #21；未達財產標準數反推並標示「推算值」。先列來源表與欄位確認。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50992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#38 推算 17,722 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160" y="3771900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6040" y="3927348"/>
            <a:ext cx="457200" cy="45720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927348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各表格式說明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6040" y="4503420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920" y="4613148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以以往年度定稿（PDF 或 Excel）為範本，產製各表格式說明：對頁／單頁、標題拆法、欄寬 mm、表頭、字級、範本頁次。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只列有上傳系統檔的書表；先給格式說明確認。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760" y="5650992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表格區左 18.1、寬 173 mm；#1 對頁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5｜★ 從零生成 HTML 工具：7 段提示詞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69848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69848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5-1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69848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說明需求，先要流程圖（還不寫程式）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64792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微軟正黑體"/>
                <a:ea typeface="微軟正黑體"/>
              </a:rPr>
              <a:t>5-2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764792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上傳系統檔＋範本檔，分析各表格式（Excel 或 PDF）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59736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59736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5-3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459736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生成第一版 HTML：載入、表名對照、套用格式預覽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54680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C00000"/>
                </a:solidFill>
                <a:latin typeface="微軟正黑體"/>
                <a:ea typeface="微軟正黑體"/>
              </a:rPr>
              <a:t>5-4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154680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加入各表格式編修（對照範本調整）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9624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9624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5-5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849624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加入產出：列印版面與 Excel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44568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8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5-6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544568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測試與修正（一句話＋截圖，每次只改一件事）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239512"/>
            <a:ext cx="6492240" cy="603504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239512"/>
            <a:ext cx="7315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5-7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39512"/>
            <a:ext cx="54406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（選用）另存簡易版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069848"/>
            <a:ext cx="4511040" cy="52212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252728"/>
            <a:ext cx="4053840" cy="4901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  <a:latin typeface="微軟正黑體"/>
                <a:ea typeface="微軟正黑體"/>
              </a:rPr>
              <a:t>新手須知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存檔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給檔案就直接下載；只給程式碼文字時：全選複製→記事本貼上→另存新檔，檔名 .html、編碼 UTF-8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開啟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雙擊 .html，用 Chrome 或 Edge 開，不用安裝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版次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每次修改另存 v1、v2、v3，不覆蓋，改壞可退回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報錯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畫面紅字或沒反應：F12 →「Console」截圖給 AI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範本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Excel 或 PDF 都可以；有 Excel 範本，Excel 產出最接近原格式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0076BC"/>
                </a:solidFill>
                <a:latin typeface="微軟正黑體"/>
                <a:ea typeface="微軟正黑體"/>
              </a:rPr>
              <a:t>資料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練習用教材素材；機關正式資料不上傳 AI，在完成的工具內處理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16752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C00000"/>
                </a:solidFill>
                <a:latin typeface="微軟正黑體"/>
                <a:ea typeface="微軟正黑體"/>
              </a:rPr>
              <a:t>紅框：格式調整的關鍵兩步（分析範本格式、逐表格式編修）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5-1｜說明需求，先要流程圖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我是〔機關〕主計人員，沒有寫過程式。請幫我做「決算書表套版工具」：系統產製的 .xls 套用以往年度定稿（Excel 或 PDF）的格式，並可逐表調整格式。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限制：① 單一 .html，Chrome／Edge 雙擊即開、不連網　② 元件內嵌、不用中國大陸元件，附元件清單　③ 資料只在本機　④ 繁體中文、每步有「確認，下一步」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請先不要寫程式，先給我：流程圖、各畫面按鈕與欄位、需要我提供的檔案。等我確認。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44168"/>
            <a:ext cx="5516880" cy="373989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496824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AI 應先回覆（不是程式碼）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① 工作流程圖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② 各畫面按鈕與欄位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③ 需要的檔案清單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④ 預計使用的元件與國別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回覆流程圖與檔案清單，不直接寫程式；元件例如 SheetJS（讀 .xls）、PDF.js（讀 PDF）、ExcelJS（寫 .xlsx）。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若直接給程式碼，回覆「請先停，先給我流程圖確認」。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5-2｜★ 分析範本格式（Excel 或 PDF）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上傳：系統檔＋範本檔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分析的檔案：系統產製檔〔23〕個＋範本檔（Excel 或 PDF，有哪個傳哪個）。請逐表整理「各表格式規格表」：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・Excel 範本：欄寬、列高、合併儲存格、表頭列數、字型字級、框線、數字格式、頁面設定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・PDF 範本：單頁／對頁、左右頁標題拆法、各欄寬 mm、表頭、字級、範本頁次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・對照：系統檔每欄放範本哪一欄、表頭幾列、合計列位置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用表格回覆；對不上的標「待確認」。等我確認。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pic>
        <p:nvPicPr>
          <p:cNvPr id="7" name="Picture 6" descr="c_f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3" y="1344168"/>
            <a:ext cx="2057894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pic>
        <p:nvPicPr>
          <p:cNvPr id="8" name="Picture 7" descr="c_r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716" y="3246120"/>
            <a:ext cx="2433288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例：#1 為對頁，左頁 8 欄、右頁 6 欄，表格寬 173 mm；Excel 範本保留原欄寬與合併儲存格。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PDF 若是掃描檔，改傳 Excel 範本或文字型 PDF；或看 04_成果檔／03_格式與編修檔 的格式說明 .md。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5-3｜生成第一版 HTML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上傳：系統檔＋範本檔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依 5-1 流程與 5-2 格式規格，產生第一版 HTML：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(1) 載入：一次多選檔案，自動分成系統檔與範本檔（Excel／PDF），同表號取最新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(2) 表名對照：系統檔 ↔ 範本工作表／PDF 頁次，可手動改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(3) 預覽：數字套進範本格式，千分位、比率 2 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給我完整單一 .html（決算書表工具_v1.html），並說明怎麼開、要測哪幾件事。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pic>
        <p:nvPicPr>
          <p:cNvPr id="7" name="Picture 6" descr="c_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787" y="1344168"/>
            <a:ext cx="2765145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pic>
        <p:nvPicPr>
          <p:cNvPr id="8" name="Picture 7" descr="c_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4285" y="3246120"/>
            <a:ext cx="2704149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一個 .html 檔；選取全部檔案後顯示「系統檔 23 個、範本 PDF 215 頁辨識 27 張表」等結果。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AI 只給一段程式碼時，回覆「請給我完整的單一 .html 檔」；或開 04_成果檔／01_工具 的簡易版對照。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5-4｜★ 加入各表格式編修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上傳：最新版 .html＋範本檔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分析的檔案：最新版 .html＋格式規格＋範本檔。請加「格式編修」步驟：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(1) 逐表可改：單頁／對頁、左右頁標題、各欄寬（加總＝表格寬）、字級、表頭文字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(2) 範本（Excel 樣式或 PDF 頁面）與本年度預覽並排，改了即時更新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(3) 還原此表；匯出規格檔 .json 明年沿用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(4) 只列有上傳系統檔的表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先說明畫面配置等我確認，再給完整新版 .html。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pic>
        <p:nvPicPr>
          <p:cNvPr id="7" name="Picture 6" descr="c_fm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13" y="1344168"/>
            <a:ext cx="2057894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pic>
        <p:nvPicPr>
          <p:cNvPr id="8" name="Picture 7" descr="c_r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716" y="3246120"/>
            <a:ext cx="2433288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選 #1 可改欄寬，加總顯示 173 mm；範本頁面與預覽並排，修改即時更新。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用 04_成果檔／01_工具 的「步驟三 格式編修」對照；或匯入 03_格式與編修檔 的規格 .json。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5-5｜加入產出：列印版面與 Excel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上傳：最新版 .html＋範本檔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分析的檔案：最新版 .html＋範本檔。請加「產出」步驟：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(1) A4 列印版面：框線各頁對齊、不足列補格線、頁碼連續；單面／雙面可選；起始頁可改；有關閉按鈕；可存 PDF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(2) Excel：範本是 Excel → 沿用欄寬、合併、框線、字型、頁面設定只換數字；範本是 PDF → 依規格每表一工作表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先列出產出檔案與命名等我確認。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pic>
        <p:nvPicPr>
          <p:cNvPr id="7" name="Picture 6" descr="s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050" y="1344168"/>
            <a:ext cx="2394620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pic>
        <p:nvPicPr>
          <p:cNvPr id="8" name="Picture 7" descr="c_s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85" y="3246120"/>
            <a:ext cx="3197950" cy="1792224"/>
          </a:xfrm>
          <a:prstGeom prst="rect">
            <a:avLst/>
          </a:prstGeom>
          <a:ln w="9525">
            <a:solidFill>
              <a:srgbClr val="C8C8C8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列印版面雙面 182 頁／單面 179 頁；Excel 依規格 29 個工作表、套範本格式 27 個工作表。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對照 04_成果檔／02_114年度產出 的同名檔案。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5-6｜測試與修正，每次只改一件事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486400" cy="4059936"/>
          </a:xfrm>
          <a:prstGeom prst="roundRect">
            <a:avLst>
              <a:gd name="adj" fmla="val 6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07008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DE24"/>
                </a:solidFill>
                <a:latin typeface="微軟正黑體"/>
                <a:ea typeface="微軟正黑體"/>
              </a:rPr>
              <a:t>Prompt</a:t>
            </a:r>
            <a:r>
              <a:rPr sz="1200" b="0">
                <a:solidFill>
                  <a:srgbClr val="C9CDD2"/>
                </a:solidFill>
                <a:latin typeface="微軟正黑體"/>
                <a:ea typeface="微軟正黑體"/>
              </a:rPr>
              <a:t>　上傳：最新版 .html＋截圖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我用實際檔案測試，問題：〔哪一步、哪張表、做了什麼、看到什麼、應該是什麼〕，附截圖；有紅字附 F12→Console 截圖。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請：(1) 先說明原因與改法，等我確認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(2) 只改這個問題，其他不要動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(3) 給完整新版 .html，版次加 1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微軟正黑體"/>
                <a:ea typeface="微軟正黑體"/>
              </a:rPr>
              <a:t>(4) 列出我要再測的項目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24128"/>
            <a:ext cx="5516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95F66"/>
                </a:solidFill>
                <a:latin typeface="微軟正黑體"/>
                <a:ea typeface="微軟正黑體"/>
              </a:rPr>
              <a:t>預期畫面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44168"/>
            <a:ext cx="5516880" cy="3739896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18488"/>
            <a:ext cx="4968240" cy="3282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>
                <a:solidFill>
                  <a:srgbClr val="0076BC"/>
                </a:solidFill>
                <a:latin typeface="微軟正黑體"/>
                <a:ea typeface="微軟正黑體"/>
              </a:rPr>
              <a:t>好的問題描述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✔ 步驟三，#1 第 2 頁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✔ 欄寬加總 175，應為 173 mm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✔ 附截圖＋Console 截圖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222222"/>
                </a:solidFill>
                <a:latin typeface="微軟正黑體"/>
                <a:ea typeface="微軟正黑體"/>
              </a:rPr>
              <a:t>✘「版面怪怪的，幫我改好」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0300" y="5221224"/>
            <a:ext cx="5524500" cy="1069848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B455"/>
                </a:solidFill>
                <a:latin typeface="微軟正黑體"/>
                <a:ea typeface="微軟正黑體"/>
              </a:rPr>
              <a:t>預期結果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每次修一個問題、版次遞增；例：「每頁補的列要補格線，框線上下左右要對齊」修正後各頁框線位置一致。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900" y="5330952"/>
            <a:ext cx="5067300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微軟正黑體"/>
                <a:ea typeface="微軟正黑體"/>
              </a:rPr>
              <a:t>卡關時怎麼辦　</a:t>
            </a:r>
            <a:r>
              <a:rPr sz="1300" b="0">
                <a:solidFill>
                  <a:srgbClr val="222222"/>
                </a:solidFill>
                <a:latin typeface="微軟正黑體"/>
                <a:ea typeface="微軟正黑體"/>
              </a:rPr>
              <a:t>對話太長、AI 開始忘記規則時：開新對話，先貼 STEP 0 規範，再上傳最新版 .html 與規格檔，說明「接續修改」。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STEP 6～9｜在工具內操作與產出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179576"/>
            <a:ext cx="457200" cy="45720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179576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★ 編修內容與自動重算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65376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明細數字可改；合計、比較增減、比率自動重算並鎖定；修改格子黃底可看系統原值。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總說明依數字產生草稿，標「（請填原因）」；編修檔可匯出／匯入。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03220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服務費改 98,000：合計 1,389,000、比率 150.62%，A3 亮紅燈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160" y="1024128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16040" y="1179576"/>
            <a:ext cx="457200" cy="45720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400" y="1179576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產出列印版面與 Excel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16040" y="1755648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920" y="1865376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A4 對頁列印版面，對頁表從偶數頁開始、頁碼連續，可存 PDF。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Excel 兩種：依格式規格、套用以往年度定稿 xlsx；附「核對結果」。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760" y="2903220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列印版面 182 頁；Excel 29／27 個工作表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71900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927348"/>
            <a:ext cx="457200" cy="45720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927348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版面細修（一句話＋截圖）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503420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613148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每頁補的列要補格線，框線上下左右要一致對齊。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預覽可選單面或雙面，有關閉按鈕；各表起始頁號可編修。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50992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雙面 182 頁、單面 179 頁，各頁框線一致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160" y="3771900"/>
            <a:ext cx="5501640" cy="25191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6040" y="3927348"/>
            <a:ext cx="457200" cy="45720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400" y="3927348"/>
            <a:ext cx="4587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對外公告檔與格式 1～5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6040" y="4503420"/>
            <a:ext cx="5135880" cy="1056132"/>
          </a:xfrm>
          <a:prstGeom prst="roundRect">
            <a:avLst>
              <a:gd name="adj" fmla="val 5000"/>
            </a:avLst>
          </a:prstGeom>
          <a:solidFill>
            <a:srgbClr val="262B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98920" y="4613148"/>
            <a:ext cx="4770120" cy="873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每張表產出 XML（英文標籤）與 MD，#17 姓名遮蔽，zip 附 SHA-256。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軟正黑體"/>
                <a:ea typeface="微軟正黑體"/>
              </a:rPr>
              <a:t>依格式規範產生封面、封底、目次、總說明、歲入來源別決算表，每個確認後才能下載。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760" y="5650992"/>
            <a:ext cx="5044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B455"/>
                </a:solidFill>
                <a:latin typeface="微軟正黑體"/>
                <a:ea typeface="微軟正黑體"/>
              </a:rPr>
              <a:t>預期　</a:t>
            </a:r>
            <a:r>
              <a:rPr sz="1200" b="0">
                <a:solidFill>
                  <a:srgbClr val="222222"/>
                </a:solidFill>
                <a:latin typeface="微軟正黑體"/>
                <a:ea typeface="微軟正黑體"/>
              </a:rPr>
              <a:t>公告檔 25 張表；格式 1～5 共 5 個 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★ 學員練習與注意事項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24128"/>
            <a:ext cx="11277600" cy="2331720"/>
          </a:xfrm>
          <a:prstGeom prst="roundRect">
            <a:avLst>
              <a:gd name="adj" fmla="val 6000"/>
            </a:avLst>
          </a:prstGeom>
          <a:solidFill>
            <a:srgbClr val="FDECEC"/>
          </a:solidFill>
          <a:ln w="317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1072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00000"/>
                </a:solidFill>
                <a:latin typeface="微軟正黑體"/>
                <a:ea typeface="微軟正黑體"/>
              </a:rPr>
              <a:t>★ 05_半成品與題目檔　</a:t>
            </a:r>
            <a:r>
              <a:rPr sz="1500" b="0">
                <a:solidFill>
                  <a:srgbClr val="222222"/>
                </a:solidFill>
                <a:latin typeface="微軟正黑體"/>
                <a:ea typeface="微軟正黑體"/>
              </a:rPr>
              <a:t>★題目檔_決算書表編製練習.xlsx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18488"/>
            <a:ext cx="2036064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83080"/>
            <a:ext cx="1258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載入與對照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95728"/>
            <a:ext cx="1670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簡易版選 5 個系統檔＋PDF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4744" y="1618488"/>
            <a:ext cx="2036064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41904" y="17830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0544" y="1783080"/>
            <a:ext cx="1258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找出格式錯誤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7624" y="2395728"/>
            <a:ext cx="1670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規格檔含 4 處錯誤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7968" y="1618488"/>
            <a:ext cx="2036064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215128" y="17830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3768" y="1783080"/>
            <a:ext cx="1258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編修與連動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0848" y="2395728"/>
            <a:ext cx="1670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服務費改 98,000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51192" y="1618488"/>
            <a:ext cx="2036064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88352" y="17830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1783080"/>
            <a:ext cx="1258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接續半成品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2395728"/>
            <a:ext cx="1670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補 #19 第 2 列與總說明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24416" y="1618488"/>
            <a:ext cx="2036064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B4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61576" y="1783080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微軟正黑體"/>
                <a:ea typeface="微軟正黑體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0216" y="1783080"/>
            <a:ext cx="125882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微軟正黑體"/>
                <a:ea typeface="微軟正黑體"/>
              </a:rPr>
              <a:t>產出與版面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7296" y="2395728"/>
            <a:ext cx="16703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95F66"/>
                </a:solidFill>
                <a:latin typeface="微軟正黑體"/>
                <a:ea typeface="微軟正黑體"/>
              </a:rPr>
              <a:t>起始頁 2、單雙面比較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30168"/>
            <a:ext cx="2682240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" y="3858768"/>
            <a:ext cx="502920" cy="50292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858768"/>
            <a:ext cx="176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資安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544568"/>
            <a:ext cx="2225040" cy="1655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單一 HTML、離線；無中國大陸元件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2320" y="3630168"/>
            <a:ext cx="2682240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05200" y="3858768"/>
            <a:ext cx="502920" cy="50292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45280" y="3858768"/>
            <a:ext cx="176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個資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0920" y="4544568"/>
            <a:ext cx="2225040" cy="1655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教材人名已虛構；#17 姓名預設遮蔽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7440" y="3630168"/>
            <a:ext cx="2682240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70320" y="3858768"/>
            <a:ext cx="502920" cy="502920"/>
          </a:xfrm>
          <a:prstGeom prst="ellipse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0400" y="3858768"/>
            <a:ext cx="176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人工複核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6040" y="4544568"/>
            <a:ext cx="2225040" cy="1655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以系統產製檔為準；推算值對帳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2560" y="3630168"/>
            <a:ext cx="2682240" cy="2660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40" y="3858768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微軟正黑體"/>
                <a:ea typeface="微軟正黑體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3858768"/>
            <a:ext cx="1767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222"/>
                </a:solidFill>
                <a:latin typeface="微軟正黑體"/>
                <a:ea typeface="微軟正黑體"/>
              </a:rPr>
              <a:t>留存紀錄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81160" y="4544568"/>
            <a:ext cx="2225040" cy="1655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95F66"/>
                </a:solidFill>
                <a:latin typeface="微軟正黑體"/>
                <a:ea typeface="微軟正黑體"/>
              </a:rPr>
              <a:t>勾稽、確認時間、修改紀錄寫入 Excel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C00000"/>
                </a:solidFill>
                <a:latin typeface="微軟正黑體"/>
                <a:ea typeface="微軟正黑體"/>
              </a:rPr>
              <a:t>結語與 Q&amp;A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07008"/>
            <a:ext cx="3545840" cy="3017520"/>
          </a:xfrm>
          <a:prstGeom prst="roundRect">
            <a:avLst>
              <a:gd name="adj" fmla="val 6000"/>
            </a:avLst>
          </a:prstGeom>
          <a:solidFill>
            <a:srgbClr val="E8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572768"/>
            <a:ext cx="777240" cy="777240"/>
          </a:xfrm>
          <a:prstGeom prst="ellipse">
            <a:avLst/>
          </a:prstGeom>
          <a:solidFill>
            <a:srgbClr val="007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78608"/>
            <a:ext cx="2814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</a:rPr>
              <a:t>用自己機關的系統檔試做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47288"/>
            <a:ext cx="2814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95F66"/>
                </a:solidFill>
                <a:latin typeface="微軟正黑體"/>
                <a:ea typeface="微軟正黑體"/>
              </a:rPr>
              <a:t>先用簡易版：只處理上傳的書表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3080" y="1207008"/>
            <a:ext cx="3545840" cy="3017520"/>
          </a:xfrm>
          <a:prstGeom prst="roundRect">
            <a:avLst>
              <a:gd name="adj" fmla="val 6000"/>
            </a:avLst>
          </a:prstGeom>
          <a:solidFill>
            <a:srgbClr val="E9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88840" y="1572768"/>
            <a:ext cx="777240" cy="777240"/>
          </a:xfrm>
          <a:prstGeom prst="ellipse">
            <a:avLst/>
          </a:prstGeom>
          <a:solidFill>
            <a:srgbClr val="2DB4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8840" y="2578608"/>
            <a:ext cx="2814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</a:rPr>
              <a:t>留存規格檔與編修檔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8840" y="3447288"/>
            <a:ext cx="2814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95F66"/>
                </a:solidFill>
                <a:latin typeface="微軟正黑體"/>
                <a:ea typeface="微軟正黑體"/>
              </a:rPr>
              <a:t>明年在步驟一匯入，格式與手填內容沿用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8960" y="1207008"/>
            <a:ext cx="3545840" cy="3017520"/>
          </a:xfrm>
          <a:prstGeom prst="roundRect">
            <a:avLst>
              <a:gd name="adj" fmla="val 6000"/>
            </a:avLst>
          </a:prstGeom>
          <a:solidFill>
            <a:srgbClr val="FFF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54720" y="1572768"/>
            <a:ext cx="777240" cy="777240"/>
          </a:xfrm>
          <a:prstGeom prst="ellipse">
            <a:avLst/>
          </a:prstGeom>
          <a:solidFill>
            <a:srgbClr val="B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軟正黑體"/>
                <a:ea typeface="微軟正黑體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4720" y="2578608"/>
            <a:ext cx="2814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22222"/>
                </a:solidFill>
                <a:latin typeface="微軟正黑體"/>
                <a:ea typeface="微軟正黑體"/>
              </a:rPr>
              <a:t>把 Prompt 改成自己的版本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4720" y="3447288"/>
            <a:ext cx="2814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95F66"/>
                </a:solidFill>
                <a:latin typeface="微軟正黑體"/>
                <a:ea typeface="微軟正黑體"/>
              </a:rPr>
              <a:t>換掉〔 〕內的機關、年度與檔案數量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27448"/>
            <a:ext cx="1127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  <a:latin typeface="微軟正黑體"/>
                <a:ea typeface="微軟正黑體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5">
      <a:majorFont>
        <a:latin typeface="Calibri Light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9</Words>
  <Application>Microsoft Office PowerPoint</Application>
  <PresentationFormat>寬螢幕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我是標題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許傳龍</dc:creator>
  <cp:lastModifiedBy>許傳龍</cp:lastModifiedBy>
  <cp:revision>16</cp:revision>
  <dcterms:created xsi:type="dcterms:W3CDTF">2023-09-13T10:19:26Z</dcterms:created>
  <dcterms:modified xsi:type="dcterms:W3CDTF">2026-10-15T01:19:20Z</dcterms:modified>
</cp:coreProperties>
</file>